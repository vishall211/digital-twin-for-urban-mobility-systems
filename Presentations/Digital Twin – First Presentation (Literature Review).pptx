
<file path=[Content_Types].xml><?xml version="1.0" encoding="utf-8"?>
<Types xmlns="http://schemas.openxmlformats.org/package/2006/content-types">
  <Default Extension="jpg" ContentType="image/unknown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65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18413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DE3D2EF4-3F61-B4E9-5684-9E40832A92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8942449" cy="51507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9183368-C69A-5592-B99F-FCF701434B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" y="156211"/>
            <a:ext cx="1109980" cy="331470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C6DC63F9-5AEC-B83C-E997-CE1B17C19D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996" y="156211"/>
            <a:ext cx="1034508" cy="331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6832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4A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Unified Digital Twin for Urban Transportation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188720" cy="457200"/>
          </a:xfrm>
          <a:prstGeom prst="roundRect">
            <a:avLst>
              <a:gd name="adj" fmla="val 20000"/>
            </a:avLst>
          </a:prstGeom>
          <a:solidFill>
            <a:srgbClr val="2A5A9A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8745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737360" y="18745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A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920240" y="1874520"/>
            <a:ext cx="1188720" cy="457200"/>
          </a:xfrm>
          <a:prstGeom prst="roundRect">
            <a:avLst>
              <a:gd name="adj" fmla="val 20000"/>
            </a:avLst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920240" y="18745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108960" y="18745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A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91840" y="1874520"/>
            <a:ext cx="1188720" cy="457200"/>
          </a:xfrm>
          <a:prstGeom prst="roundRect">
            <a:avLst>
              <a:gd name="adj" fmla="val 20000"/>
            </a:avLst>
          </a:prstGeom>
          <a:solidFill>
            <a:srgbClr val="2A5A9A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91840" y="18745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18745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A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63440" y="1874520"/>
            <a:ext cx="1188720" cy="457200"/>
          </a:xfrm>
          <a:prstGeom prst="roundRect">
            <a:avLst>
              <a:gd name="adj" fmla="val 20000"/>
            </a:avLst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63440" y="18745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852160" y="18745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A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035040" y="1874520"/>
            <a:ext cx="1188720" cy="457200"/>
          </a:xfrm>
          <a:prstGeom prst="roundRect">
            <a:avLst>
              <a:gd name="adj" fmla="val 20000"/>
            </a:avLst>
          </a:prstGeom>
          <a:solidFill>
            <a:srgbClr val="2A5A9A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035040" y="18745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223760" y="18745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A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406640" y="1874520"/>
            <a:ext cx="1188720" cy="457200"/>
          </a:xfrm>
          <a:prstGeom prst="roundRect">
            <a:avLst>
              <a:gd name="adj" fmla="val 20000"/>
            </a:avLst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06640" y="18745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269748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1C3D6E"/>
          </a:solidFill>
          <a:ln w="12700">
            <a:solidFill>
              <a:srgbClr val="1C3D6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31520" y="28346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4A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320040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Digital Twin (DT) is a live virtual copy of a real transport system, built from data, models and simulation.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91840" y="269748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1C3D6E"/>
          </a:solidFill>
          <a:ln w="12700">
            <a:solidFill>
              <a:srgbClr val="1C3D6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474720" y="28346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4A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3474720" y="320040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predicts what will happen; simulation tests what could happen if something changes.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035040" y="269748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1C3D6E"/>
          </a:solidFill>
          <a:ln w="12700">
            <a:solidFill>
              <a:srgbClr val="1C3D6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217920" y="28346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4A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focus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6217920" y="320040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twin joining traffic, parking, public transport and electric vehicles (EVs).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457200" cy="457200"/>
          </a:xfrm>
          <a:prstGeom prst="ellipse">
            <a:avLst/>
          </a:prstGeom>
          <a:solidFill>
            <a:srgbClr val="F4A72B"/>
          </a:solidFill>
          <a:ln w="12700">
            <a:solidFill>
              <a:srgbClr val="F4A7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32004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                                      </a:t>
            </a: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Priya Kumari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863840" y="484632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3566160" cy="3520440"/>
          </a:xfrm>
          <a:prstGeom prst="roundRect">
            <a:avLst>
              <a:gd name="adj" fmla="val 2078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3258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4A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691640"/>
            <a:ext cx="3108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can a unified Digital Twin combine traffic, parking, public transport and EV infrastructure to predict urban mobility conditions and test "what-if" scenarios?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206240" y="1143000"/>
            <a:ext cx="44805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389120" y="1143000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twins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943600" y="1143000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 focus on traffic only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06240" y="1865376"/>
            <a:ext cx="44805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389120" y="1865376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 twins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943600" y="1865376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 treated as a separate system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206240" y="2587752"/>
            <a:ext cx="44805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4389120" y="2587752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transport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943600" y="2587752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apart from road traffic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206240" y="3310128"/>
            <a:ext cx="44805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4389120" y="3310128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mobility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943600" y="3310128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Weakly linked to other parts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206240" y="4032504"/>
            <a:ext cx="44805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4389120" y="4032504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+ predict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943600" y="4032504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 what-if scenario testing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457200" cy="457200"/>
          </a:xfrm>
          <a:prstGeom prst="ellipse">
            <a:avLst/>
          </a:prstGeom>
          <a:solidFill>
            <a:srgbClr val="F4A72B"/>
          </a:solidFill>
          <a:ln w="12700">
            <a:solidFill>
              <a:srgbClr val="F4A7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32004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Objective                                            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863840" y="484632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371600"/>
            <a:ext cx="365760" cy="365760"/>
          </a:xfrm>
          <a:prstGeom prst="ellipse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87452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 traffic, parking, public transport and EVs in one virtual environment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46120" y="118872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29000" y="1371600"/>
            <a:ext cx="365760" cy="365760"/>
          </a:xfrm>
          <a:prstGeom prst="ellipse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2900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187452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real-time or simulated transport data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035040" y="118872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371600"/>
            <a:ext cx="365760" cy="365760"/>
          </a:xfrm>
          <a:prstGeom prst="ellipse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1792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187452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future transport conditions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57200" y="297180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" y="3154680"/>
            <a:ext cx="365760" cy="365760"/>
          </a:xfrm>
          <a:prstGeom prst="ellipse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3154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365760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likely congestion or parking problems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246120" y="297180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429000" y="3154680"/>
            <a:ext cx="365760" cy="365760"/>
          </a:xfrm>
          <a:prstGeom prst="ellipse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429000" y="3154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3429000" y="365760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what-if scenarios such as a blocked road or a demand surge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035040" y="297180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17920" y="3154680"/>
            <a:ext cx="365760" cy="365760"/>
          </a:xfrm>
          <a:prstGeom prst="ellipse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217920" y="3154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217920" y="365760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conditions before and after a proposed change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457200" cy="457200"/>
          </a:xfrm>
          <a:prstGeom prst="ellipse">
            <a:avLst/>
          </a:prstGeom>
          <a:solidFill>
            <a:srgbClr val="F4A72B"/>
          </a:solidFill>
          <a:ln w="12700">
            <a:solidFill>
              <a:srgbClr val="F4A7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32004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Motivation                                                          </a:t>
            </a: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Yashasvi</a:t>
            </a: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                                                                                          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863840" y="484632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60320" y="1143000"/>
            <a:ext cx="19659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2697480" y="12344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3A8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75%+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2697480" y="18288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them published after 2021: a fast-growing field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2697480" y="242316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Frøyen et al.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1143000"/>
            <a:ext cx="19659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4800600" y="12344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3A8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20,000+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4800600" y="18288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 simulated in one city-scale twin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4800600" y="242316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Yeon et al., DTUMOS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903720" y="242316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2926080"/>
            <a:ext cx="82296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685800" y="310896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experiments on roads are costly and risky; a twin lets cities test ideas safely first.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in one system spill over into others: a road closure affects transit, parking and EV charging.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 and federated learning now make it possible to learn from private data without sharing it.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457200" cy="457200"/>
          </a:xfrm>
          <a:prstGeom prst="ellipse">
            <a:avLst/>
          </a:prstGeom>
          <a:solidFill>
            <a:srgbClr val="F4A72B"/>
          </a:solidFill>
          <a:ln w="12700">
            <a:solidFill>
              <a:srgbClr val="F4A7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32004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Area of Application                                        </a:t>
            </a: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Vishal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863840" y="484632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371600"/>
            <a:ext cx="292608" cy="292608"/>
          </a:xfrm>
          <a:prstGeom prst="ellipse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371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13716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management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8745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 detection, signal control, roundabout metering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46120" y="118872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29000" y="1371600"/>
            <a:ext cx="292608" cy="292608"/>
          </a:xfrm>
          <a:prstGeom prst="ellipse">
            <a:avLst/>
          </a:prstGeom>
          <a:solidFill>
            <a:srgbClr val="F4A72B"/>
          </a:solidFill>
          <a:ln w="12700">
            <a:solidFill>
              <a:srgbClr val="F4A72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29000" y="1371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840480" y="13716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 management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429000" y="18745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prediction and parking-facility planning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35040" y="118872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1371600"/>
            <a:ext cx="292608" cy="292608"/>
          </a:xfrm>
          <a:prstGeom prst="ellipse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17920" y="1371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629400" y="13716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transport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0" y="18745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changes and travel-time impact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297180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" y="3154680"/>
            <a:ext cx="292608" cy="292608"/>
          </a:xfrm>
          <a:prstGeom prst="ellipse">
            <a:avLst/>
          </a:prstGeom>
          <a:solidFill>
            <a:srgbClr val="F4A72B"/>
          </a:solidFill>
          <a:ln w="12700">
            <a:solidFill>
              <a:srgbClr val="F4A72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" y="3154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051560" y="3154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charging &amp; energy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36576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Charging demand, grid load and energy-aware planning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246120" y="297180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429000" y="3154680"/>
            <a:ext cx="292608" cy="292608"/>
          </a:xfrm>
          <a:prstGeom prst="ellipse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429000" y="3154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3840480" y="3154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&amp; ride-hailing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3429000" y="36576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ETA, ride matching and vehicle dispatching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035040" y="297180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217920" y="3154680"/>
            <a:ext cx="292608" cy="292608"/>
          </a:xfrm>
          <a:prstGeom prst="ellipse">
            <a:avLst/>
          </a:prstGeom>
          <a:solidFill>
            <a:srgbClr val="F4A72B"/>
          </a:solidFill>
          <a:ln w="12700">
            <a:solidFill>
              <a:srgbClr val="F4A72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217920" y="3154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6629400" y="3154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policy planning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6217920" y="36576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road closures, new roads and policies before building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457200" cy="457200"/>
          </a:xfrm>
          <a:prstGeom prst="ellipse">
            <a:avLst/>
          </a:prstGeom>
          <a:solidFill>
            <a:srgbClr val="F4A72B"/>
          </a:solidFill>
          <a:ln w="12700">
            <a:solidFill>
              <a:srgbClr val="F4A7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32004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Papers Read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863840" y="484632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406908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566928" y="109728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 et al. (2025): </a:t>
            </a:r>
            <a:r>
              <a:rPr lang="en-US" sz="10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federated learning for DT IoT networks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17720" y="1097280"/>
            <a:ext cx="406908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727448" y="109728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Wang W. et al. (2023): </a:t>
            </a:r>
            <a:r>
              <a:rPr lang="en-US" sz="10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intelligence for traffic DTs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1536192"/>
            <a:ext cx="406908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566928" y="1536192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Zhao et al. (2026): </a:t>
            </a:r>
            <a:r>
              <a:rPr lang="en-US" sz="10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FedSTAST trajectory prediction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17720" y="1536192"/>
            <a:ext cx="406908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727448" y="1536192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Yeon et al. (2023): </a:t>
            </a:r>
            <a:r>
              <a:rPr lang="en-US" sz="10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DTUMOS city-scale mobility twin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1975104"/>
            <a:ext cx="406908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566928" y="1975104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Caserta study: </a:t>
            </a:r>
            <a:r>
              <a:rPr lang="en-US" sz="10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 for parking and mobility forecasting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17720" y="1975104"/>
            <a:ext cx="406908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4727448" y="1975104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Rzeszów study: </a:t>
            </a:r>
            <a:r>
              <a:rPr lang="en-US" sz="10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Roundabout DT and adaptive inflow metering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2414016"/>
            <a:ext cx="406908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566928" y="2414016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Lagos study: </a:t>
            </a:r>
            <a:r>
              <a:rPr lang="en-US" sz="10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DT-driven mobility and predictive maintenance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17720" y="2414016"/>
            <a:ext cx="406908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4727448" y="2414016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Frøyen et al. (2025): </a:t>
            </a:r>
            <a:r>
              <a:rPr lang="en-US" sz="10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of DTs for transport planning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2852928"/>
            <a:ext cx="406908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566928" y="2852928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Jiang &amp; Luo (2022): </a:t>
            </a:r>
            <a:r>
              <a:rPr lang="en-US" sz="10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GNNs for traffic forecasting: survey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17720" y="2852928"/>
            <a:ext cx="406908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4727448" y="2852928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Wang et al. (2024): </a:t>
            </a:r>
            <a:r>
              <a:rPr lang="en-US" sz="10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STGformer traffic forecasting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" y="3291840"/>
            <a:ext cx="406908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566928" y="329184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 et al. (2023): </a:t>
            </a:r>
            <a:r>
              <a:rPr lang="en-US" sz="10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TransETA arrival-time prediction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617720" y="3291840"/>
            <a:ext cx="406908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4727448" y="329184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Rashid et al. (2024); Alaraj et al. (2025): </a:t>
            </a:r>
            <a:r>
              <a:rPr lang="en-US" sz="10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charging demand forecasting reviews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" y="3730752"/>
            <a:ext cx="406908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566928" y="3730752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Wang et al. (2025); Jing et al. (2025): </a:t>
            </a:r>
            <a:r>
              <a:rPr lang="en-US" sz="10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 matching and federated dispatching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617720" y="3730752"/>
            <a:ext cx="406908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4727448" y="3730752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Xing et al. (2026): </a:t>
            </a:r>
            <a:r>
              <a:rPr lang="en-US" sz="10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FGDT fine-grained twin migration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57200" y="4169664"/>
            <a:ext cx="406908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566928" y="4169664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Zhou et al. (2025): </a:t>
            </a:r>
            <a:r>
              <a:rPr lang="en-US" sz="10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 + LSTM + PSO for energy and transport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617720" y="4169664"/>
            <a:ext cx="406908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 txBox="1"/>
          <p:nvPr/>
        </p:nvSpPr>
        <p:spPr>
          <a:xfrm>
            <a:off x="4727448" y="4169664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Poorzare et al. (2025): </a:t>
            </a:r>
            <a:r>
              <a:rPr lang="en-US" sz="10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Digital Twin survey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457200" cy="457200"/>
          </a:xfrm>
          <a:prstGeom prst="ellipse">
            <a:avLst/>
          </a:prstGeom>
          <a:solidFill>
            <a:srgbClr val="F4A72B"/>
          </a:solidFill>
          <a:ln w="12700">
            <a:solidFill>
              <a:srgbClr val="F4A7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32004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Techniques and Tools                               </a:t>
            </a: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Nishant Sharma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863840" y="484632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40080" y="13716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 &amp; simulation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881293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DTUMOS, CARLA, traffic simulation software, real-time data integration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118872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429000" y="13716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models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87452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LSTM, GRU, GCN/GNN, Transformers, STGformer, ASTGCN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118872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217920" y="13716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 &amp; routing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187452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TransETA (GCN + Deep Forest + Transformer), shortest-path routing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97180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40080" y="3154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&amp; edge learning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65760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learning, asynchronous FL, edge computing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46120" y="297180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3429000" y="3154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&amp; optimization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3429000" y="365760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 (PPO, Double DQN), PSO/MOPSO, Lyapunov, bandits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035040" y="297180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6217920" y="3154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 &amp; platforms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217920" y="365760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FIWARE, ITU-T Y.3090, IoT, GPS and camera data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457200" cy="457200"/>
          </a:xfrm>
          <a:prstGeom prst="ellipse">
            <a:avLst/>
          </a:prstGeom>
          <a:solidFill>
            <a:srgbClr val="F4A72B"/>
          </a:solidFill>
          <a:ln w="12700">
            <a:solidFill>
              <a:srgbClr val="F4A7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32004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Outcomes                             </a:t>
            </a: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Ishika Ishan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863840" y="484632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475488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85800" y="1325880"/>
            <a:ext cx="42976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unified twin that represents traffic, parking, public transport and EVs together.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of traffic, parking demand, travel time and EV charging demand.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 of congestion and parking problems.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what-if tool with before/after comparison for road blockages, demand surges and route changes.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to support data-driven city planning decisions.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394960" y="1143000"/>
            <a:ext cx="3291840" cy="3520440"/>
          </a:xfrm>
          <a:prstGeom prst="roundRect">
            <a:avLst>
              <a:gd name="adj" fmla="val 2222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23560" y="13258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4A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WILL MEASURE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623560" y="1737360"/>
            <a:ext cx="28346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time and delay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 error (MAE)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time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use and charging use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time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457200" cy="457200"/>
          </a:xfrm>
          <a:prstGeom prst="ellipse">
            <a:avLst/>
          </a:prstGeom>
          <a:solidFill>
            <a:srgbClr val="F4A72B"/>
          </a:solidFill>
          <a:ln w="12700">
            <a:solidFill>
              <a:srgbClr val="F4A7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32004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References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863840" y="484632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9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97280"/>
            <a:ext cx="402336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8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S. Chu et al., "Resource efficient asynchronous federated learning for digital twin empowered IoT network," IEEE Trans. Green Commun. Netw., 2025, doi:10.1109/TGCN.2025.3574143.</a:t>
            </a:r>
            <a:endParaRPr lang="en-US" sz="8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8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W. Wang et al., "Data information processing of traffic digital twins in smart cities using edge intelligent federation learning," Inf. Process. Manage., 60(2), 103171, 2023.</a:t>
            </a:r>
            <a:endParaRPr lang="en-US" sz="8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8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Y. Zhao et al., "Federated learning intersection vehicle trajectory prediction scheme within digital twin," IEEE Trans. Intell. Transp. Syst., 27(5), 6168–6180, 2026.</a:t>
            </a:r>
            <a:endParaRPr lang="en-US" sz="8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8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H. Yeon et al., "DTUMOS, digital twin for large-scale urban mobility operating system," Sci. Rep., 13, 5154, 2023.</a:t>
            </a:r>
            <a:endParaRPr lang="en-US" sz="8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8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Frøyen et al., "Exploring digital twins for transport planning: a review," 2025.</a:t>
            </a:r>
            <a:endParaRPr lang="en-US" sz="8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8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Jiang &amp; Luo, "Graph neural network for traffic forecasting: a survey," 2022.</a:t>
            </a:r>
            <a:endParaRPr lang="en-US" sz="8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8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Wang et al., "STGformer: efficient spatiotemporal graph transformer for traffic forecasting," 2024.</a:t>
            </a:r>
            <a:endParaRPr lang="en-US" sz="8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8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Lin et al., "TransETA: transformer networks for estimated time of arrival with local congestion representation," 2023.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4663440" y="1097280"/>
            <a:ext cx="402336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8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 Rashid, Elfouly &amp; Chen, "A comprehensive survey of electric vehicle charging demand forecasting techniques," 2024.</a:t>
            </a:r>
            <a:endParaRPr lang="en-US" sz="8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8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 Alaraj et al., "Machine learning-based EV charging demand forecasting: a systematized literature review," 2025.</a:t>
            </a:r>
            <a:endParaRPr lang="en-US" sz="8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8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[11] Wang et al., "Scalable ride-matching and dispatching model for shared autonomous electric vehicles with real-time demand prediction," 2025.</a:t>
            </a:r>
            <a:endParaRPr lang="en-US" sz="8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8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[12] Jing et al., "Scalable order dispatching through federated multi-agent deep reinforcement learning," 2025.</a:t>
            </a:r>
            <a:endParaRPr lang="en-US" sz="8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8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[13] L. Xing et al., "Fine-grained model-level digital twin migration method for intelligent transportation systems," IEEE Open J. Intell. Transp. Syst., 7, 565–583, 2026.</a:t>
            </a:r>
            <a:endParaRPr lang="en-US" sz="8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8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[14] Z. Zhou, Y. Li, Y. He, "Leveraging digital twins for integrated energy and transportation management in smart cities," IEEE Access, 13, 153024–153034, 2025.</a:t>
            </a:r>
            <a:endParaRPr lang="en-US" sz="8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8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[15] R. Poorzare et al., "Network digital twin toward networking, telecommunications, and traffic engineering: a survey," IEEE Access, 13, 2025.</a:t>
            </a:r>
            <a:endParaRPr lang="en-US" sz="8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8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[16] Caserta parking, Rzeszów roundabout and Lagos mobility digital twin studies (Research Papers 1–3).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1235</Words>
  <Application>Microsoft Office PowerPoint</Application>
  <PresentationFormat>On-screen Show (16:9)</PresentationFormat>
  <Paragraphs>159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Priya Singh Rajput</cp:lastModifiedBy>
  <cp:revision>10</cp:revision>
  <dcterms:created xsi:type="dcterms:W3CDTF">2026-09-23T21:11:36Z</dcterms:created>
  <dcterms:modified xsi:type="dcterms:W3CDTF">2026-09-24T06:01:35Z</dcterms:modified>
</cp:coreProperties>
</file>